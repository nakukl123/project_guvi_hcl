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Unbounded" panose="020B0604020202020204" charset="0"/>
      <p:regular r:id="rId10"/>
    </p:embeddedFont>
    <p:embeddedFont>
      <p:font typeface="Cabin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6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793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-3-2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-5-13.svg"/><Relationship Id="rId3" Type="http://schemas.openxmlformats.org/officeDocument/2006/relationships/image" Target="../media/image15.png"/><Relationship Id="rId7" Type="http://schemas.openxmlformats.org/officeDocument/2006/relationships/image" Target="../media/image-5-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-5-5.svg"/><Relationship Id="rId11" Type="http://schemas.openxmlformats.org/officeDocument/2006/relationships/image" Target="../media/image-5-11.svg"/><Relationship Id="rId5" Type="http://schemas.openxmlformats.org/officeDocument/2006/relationships/image" Target="../media/image-5-3.svg"/><Relationship Id="rId4" Type="http://schemas.openxmlformats.org/officeDocument/2006/relationships/image" Target="../media/image6.png"/><Relationship Id="rId9" Type="http://schemas.openxmlformats.org/officeDocument/2006/relationships/image" Target="../media/image-5-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227" y="762714"/>
            <a:ext cx="2245281" cy="335042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2115145" y="816173"/>
            <a:ext cx="2031444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DIGITAL PAYMENTS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08227" y="1169075"/>
            <a:ext cx="5031462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Users by State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226" y="2161461"/>
            <a:ext cx="6407353" cy="34687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45009" y="2250519"/>
            <a:ext cx="3984665" cy="58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1.5B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588579" y="3061573"/>
            <a:ext cx="2097524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5 States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45009" y="3501985"/>
            <a:ext cx="398466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Contributing 65-70% of total users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45009" y="4232910"/>
            <a:ext cx="3984665" cy="58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&lt;0.05B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588579" y="5043964"/>
            <a:ext cx="2097524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Bottom States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645009" y="5484376"/>
            <a:ext cx="398466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 states &amp; UTs show minimal penetration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008227" y="6170652"/>
            <a:ext cx="3419118" cy="1296114"/>
          </a:xfrm>
          <a:prstGeom prst="roundRect">
            <a:avLst>
              <a:gd name="adj" fmla="val 2063"/>
            </a:avLst>
          </a:prstGeom>
          <a:solidFill>
            <a:srgbClr val="C91313"/>
          </a:solidFill>
          <a:ln/>
        </p:spPr>
      </p:sp>
      <p:sp>
        <p:nvSpPr>
          <p:cNvPr id="13" name="Text 10"/>
          <p:cNvSpPr/>
          <p:nvPr/>
        </p:nvSpPr>
        <p:spPr>
          <a:xfrm>
            <a:off x="2186464" y="6348889"/>
            <a:ext cx="2396133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Retention Strategy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2186464" y="6717982"/>
            <a:ext cx="306264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on loyalty programs and subscriptions in Maharashtra &amp; Karnataka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05582" y="6170652"/>
            <a:ext cx="3419118" cy="1296114"/>
          </a:xfrm>
          <a:prstGeom prst="roundRect">
            <a:avLst>
              <a:gd name="adj" fmla="val 2063"/>
            </a:avLst>
          </a:prstGeom>
          <a:solidFill>
            <a:srgbClr val="C91313"/>
          </a:solidFill>
          <a:ln/>
        </p:spPr>
      </p:sp>
      <p:sp>
        <p:nvSpPr>
          <p:cNvPr id="16" name="Text 13"/>
          <p:cNvSpPr/>
          <p:nvPr/>
        </p:nvSpPr>
        <p:spPr>
          <a:xfrm>
            <a:off x="5783818" y="6348889"/>
            <a:ext cx="2842736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Aggressive Acquisition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783818" y="6717982"/>
            <a:ext cx="306264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Target mid-tier states like AP, Telangana, Rajasthan to close the gap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202936" y="6170652"/>
            <a:ext cx="3419118" cy="1296114"/>
          </a:xfrm>
          <a:prstGeom prst="roundRect">
            <a:avLst>
              <a:gd name="adj" fmla="val 2063"/>
            </a:avLst>
          </a:prstGeom>
          <a:solidFill>
            <a:srgbClr val="C91313"/>
          </a:solidFill>
          <a:ln/>
        </p:spPr>
      </p:sp>
      <p:sp>
        <p:nvSpPr>
          <p:cNvPr id="19" name="Text 16"/>
          <p:cNvSpPr/>
          <p:nvPr/>
        </p:nvSpPr>
        <p:spPr>
          <a:xfrm>
            <a:off x="9381173" y="6348889"/>
            <a:ext cx="2663904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Vernacular Approach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9381173" y="6717982"/>
            <a:ext cx="306264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Lightweight onboarding with local language UX for low-penetration states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12622054" y="7604297"/>
            <a:ext cx="2000726" cy="526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6040" y="347305"/>
            <a:ext cx="5530691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Transaction Value vs User Base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556040" y="971312"/>
            <a:ext cx="7518202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Analyzing monetization efficiency across states reveals significant disparities in user engagement and transaction behavior.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40" y="1315403"/>
            <a:ext cx="7518202" cy="383119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70427" y="5146596"/>
            <a:ext cx="126206" cy="126206"/>
          </a:xfrm>
          <a:prstGeom prst="roundRect">
            <a:avLst>
              <a:gd name="adj" fmla="val 14491"/>
            </a:avLst>
          </a:prstGeom>
          <a:solidFill>
            <a:srgbClr val="098176"/>
          </a:solidFill>
          <a:ln/>
        </p:spPr>
      </p:sp>
      <p:sp>
        <p:nvSpPr>
          <p:cNvPr id="6" name="Text 3"/>
          <p:cNvSpPr/>
          <p:nvPr/>
        </p:nvSpPr>
        <p:spPr>
          <a:xfrm>
            <a:off x="6457593" y="5146596"/>
            <a:ext cx="781288" cy="12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Users (Billions)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91281" y="5146596"/>
            <a:ext cx="126206" cy="126206"/>
          </a:xfrm>
          <a:prstGeom prst="roundRect">
            <a:avLst>
              <a:gd name="adj" fmla="val 14491"/>
            </a:avLst>
          </a:prstGeom>
          <a:solidFill>
            <a:srgbClr val="44F3E3"/>
          </a:solidFill>
          <a:ln/>
        </p:spPr>
      </p:sp>
      <p:sp>
        <p:nvSpPr>
          <p:cNvPr id="8" name="Text 5"/>
          <p:cNvSpPr/>
          <p:nvPr/>
        </p:nvSpPr>
        <p:spPr>
          <a:xfrm>
            <a:off x="7578447" y="5146596"/>
            <a:ext cx="1432679" cy="12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Transaction Value (Trillions)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556040" y="5667613"/>
            <a:ext cx="2421850" cy="1336238"/>
          </a:xfrm>
          <a:prstGeom prst="roundRect">
            <a:avLst>
              <a:gd name="adj" fmla="val 5474"/>
            </a:avLst>
          </a:prstGeom>
          <a:solidFill>
            <a:srgbClr val="112836"/>
          </a:solidFill>
          <a:ln w="15240">
            <a:solidFill>
              <a:srgbClr val="496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0800" y="5667613"/>
            <a:ext cx="60960" cy="1336238"/>
          </a:xfrm>
          <a:prstGeom prst="roundRect">
            <a:avLst>
              <a:gd name="adj" fmla="val 31077"/>
            </a:avLst>
          </a:prstGeom>
          <a:solidFill>
            <a:srgbClr val="0A988B"/>
          </a:solidFill>
          <a:ln/>
        </p:spPr>
      </p:sp>
      <p:sp>
        <p:nvSpPr>
          <p:cNvPr id="11" name="Text 8"/>
          <p:cNvSpPr/>
          <p:nvPr/>
        </p:nvSpPr>
        <p:spPr>
          <a:xfrm>
            <a:off x="3743206" y="5809059"/>
            <a:ext cx="159377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Monetization Gap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43206" y="6070521"/>
            <a:ext cx="2093238" cy="40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UP shows </a:t>
            </a:r>
            <a:r>
              <a:rPr lang="en-US" sz="1200" b="1" dirty="0">
                <a:solidFill>
                  <a:srgbClr val="C9131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40% lower monetization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vs Maharashtra despite similar user base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04096" y="5667613"/>
            <a:ext cx="2421969" cy="1336238"/>
          </a:xfrm>
          <a:prstGeom prst="roundRect">
            <a:avLst>
              <a:gd name="adj" fmla="val 5474"/>
            </a:avLst>
          </a:prstGeom>
          <a:solidFill>
            <a:srgbClr val="112836"/>
          </a:solidFill>
          <a:ln w="15240">
            <a:solidFill>
              <a:srgbClr val="496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88856" y="5667613"/>
            <a:ext cx="60960" cy="1336238"/>
          </a:xfrm>
          <a:prstGeom prst="roundRect">
            <a:avLst>
              <a:gd name="adj" fmla="val 31077"/>
            </a:avLst>
          </a:prstGeom>
          <a:solidFill>
            <a:srgbClr val="0A988B"/>
          </a:solidFill>
          <a:ln/>
        </p:spPr>
      </p:sp>
      <p:sp>
        <p:nvSpPr>
          <p:cNvPr id="15" name="Text 12"/>
          <p:cNvSpPr/>
          <p:nvPr/>
        </p:nvSpPr>
        <p:spPr>
          <a:xfrm>
            <a:off x="6291263" y="5809059"/>
            <a:ext cx="20933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Under-Engaged Clusters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91263" y="6256258"/>
            <a:ext cx="2093357" cy="606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Bihar &amp; West Bengal: High users but transaction value </a:t>
            </a:r>
            <a:r>
              <a:rPr 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&lt;15 T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indicates untapped potential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52272" y="5667613"/>
            <a:ext cx="2421850" cy="1336238"/>
          </a:xfrm>
          <a:prstGeom prst="roundRect">
            <a:avLst>
              <a:gd name="adj" fmla="val 5474"/>
            </a:avLst>
          </a:prstGeom>
          <a:solidFill>
            <a:srgbClr val="112836"/>
          </a:solidFill>
          <a:ln w="15240">
            <a:solidFill>
              <a:srgbClr val="496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37032" y="5667613"/>
            <a:ext cx="60960" cy="1336238"/>
          </a:xfrm>
          <a:prstGeom prst="roundRect">
            <a:avLst>
              <a:gd name="adj" fmla="val 31077"/>
            </a:avLst>
          </a:prstGeom>
          <a:solidFill>
            <a:srgbClr val="0A988B"/>
          </a:solidFill>
          <a:ln/>
        </p:spPr>
      </p:sp>
      <p:sp>
        <p:nvSpPr>
          <p:cNvPr id="19" name="Text 16"/>
          <p:cNvSpPr/>
          <p:nvPr/>
        </p:nvSpPr>
        <p:spPr>
          <a:xfrm>
            <a:off x="8839438" y="5809059"/>
            <a:ext cx="148578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839438" y="6070521"/>
            <a:ext cx="2093238" cy="606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Push repeat-use incentives, bill pay, and merchant cashback in UP, Bihar, WB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556040" y="7145893"/>
            <a:ext cx="7518202" cy="738545"/>
          </a:xfrm>
          <a:prstGeom prst="roundRect">
            <a:avLst>
              <a:gd name="adj" fmla="val 2565"/>
            </a:avLst>
          </a:prstGeom>
          <a:solidFill>
            <a:srgbClr val="054842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246" y="7337941"/>
            <a:ext cx="157758" cy="12620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966210" y="7303651"/>
            <a:ext cx="6981825" cy="40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Key Metric:</a:t>
            </a:r>
            <a:r>
              <a:rPr 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Introduce state-level transaction-per-user KPI and track quarterly. Test credit, insurance, and premium services in high-value states.</a:t>
            </a:r>
            <a:endParaRPr lang="en-US" sz="1400" dirty="0"/>
          </a:p>
        </p:txBody>
      </p:sp>
      <p:sp>
        <p:nvSpPr>
          <p:cNvPr id="24" name="Rectangle 23"/>
          <p:cNvSpPr/>
          <p:nvPr/>
        </p:nvSpPr>
        <p:spPr>
          <a:xfrm>
            <a:off x="12622054" y="7604297"/>
            <a:ext cx="2000726" cy="526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18" y="376952"/>
            <a:ext cx="1361480" cy="240030"/>
          </a:xfrm>
          <a:prstGeom prst="roundRect">
            <a:avLst>
              <a:gd name="adj" fmla="val 5984"/>
            </a:avLst>
          </a:prstGeom>
          <a:noFill/>
          <a:ln w="7620">
            <a:solidFill>
              <a:srgbClr val="0A988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60" y="463042"/>
            <a:ext cx="95726" cy="95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0327" y="434348"/>
            <a:ext cx="1059061" cy="153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TRANSACTION ANALYSIS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40464" y="647887"/>
            <a:ext cx="490287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Transactions by State &amp; Type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18" y="1118355"/>
            <a:ext cx="3416498" cy="3416498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9148796" y="737118"/>
            <a:ext cx="3416498" cy="7025162"/>
            <a:chOff x="7468672" y="1216165"/>
            <a:chExt cx="3416498" cy="7025162"/>
          </a:xfrm>
        </p:grpSpPr>
        <p:sp>
          <p:nvSpPr>
            <p:cNvPr id="7" name="Text 3"/>
            <p:cNvSpPr/>
            <p:nvPr/>
          </p:nvSpPr>
          <p:spPr>
            <a:xfrm>
              <a:off x="8440817" y="2060734"/>
              <a:ext cx="1472089" cy="2992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70-80%</a:t>
              </a:r>
              <a:endParaRPr lang="en-US" sz="1200" dirty="0"/>
            </a:p>
          </p:txBody>
        </p:sp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67942" y="1216165"/>
              <a:ext cx="1795343" cy="1795343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8190071" y="3257669"/>
              <a:ext cx="1973580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Merchant Transactions</a:t>
              </a:r>
              <a:endParaRPr lang="en-US" sz="120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7468672" y="3553301"/>
              <a:ext cx="3416498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Primary driver in top states</a:t>
              </a:r>
              <a:endParaRPr lang="en-US" sz="12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8440817" y="4761905"/>
              <a:ext cx="1472089" cy="2992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15-20%</a:t>
              </a:r>
              <a:endParaRPr lang="en-US" sz="1200" dirty="0"/>
            </a:p>
          </p:txBody>
        </p:sp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79249" y="4013954"/>
              <a:ext cx="1795343" cy="1795343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8472845" y="5958840"/>
              <a:ext cx="1408033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P2P Transfers</a:t>
              </a:r>
              <a:endParaRPr lang="en-US" sz="1200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7468672" y="6254472"/>
              <a:ext cx="3416498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Secondary contribution</a:t>
              </a:r>
              <a:endParaRPr lang="en-US" sz="1200" dirty="0"/>
            </a:p>
          </p:txBody>
        </p:sp>
        <p:sp>
          <p:nvSpPr>
            <p:cNvPr id="15" name="Text 9"/>
            <p:cNvSpPr/>
            <p:nvPr/>
          </p:nvSpPr>
          <p:spPr>
            <a:xfrm>
              <a:off x="8440817" y="7463076"/>
              <a:ext cx="1472089" cy="2992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5-7%</a:t>
              </a:r>
              <a:endParaRPr lang="en-US" sz="1200" dirty="0"/>
            </a:p>
          </p:txBody>
        </p:sp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97466" y="6445984"/>
              <a:ext cx="1795343" cy="1795343"/>
            </a:xfrm>
            <a:prstGeom prst="rect">
              <a:avLst/>
            </a:prstGeom>
          </p:spPr>
        </p:pic>
      </p:grpSp>
      <p:sp>
        <p:nvSpPr>
          <p:cNvPr id="17" name="Text 10"/>
          <p:cNvSpPr/>
          <p:nvPr/>
        </p:nvSpPr>
        <p:spPr>
          <a:xfrm>
            <a:off x="8430220" y="8660011"/>
            <a:ext cx="1493282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Others + Financial</a:t>
            </a:r>
            <a:endParaRPr lang="en-US" sz="1100" dirty="0"/>
          </a:p>
        </p:txBody>
      </p:sp>
      <p:grpSp>
        <p:nvGrpSpPr>
          <p:cNvPr id="39" name="Group 38"/>
          <p:cNvGrpSpPr/>
          <p:nvPr/>
        </p:nvGrpSpPr>
        <p:grpSpPr>
          <a:xfrm>
            <a:off x="409337" y="4494609"/>
            <a:ext cx="7132558" cy="3519726"/>
            <a:chOff x="3752612" y="8955643"/>
            <a:chExt cx="7132558" cy="3519726"/>
          </a:xfrm>
        </p:grpSpPr>
        <p:sp>
          <p:nvSpPr>
            <p:cNvPr id="18" name="Text 11"/>
            <p:cNvSpPr/>
            <p:nvPr/>
          </p:nvSpPr>
          <p:spPr>
            <a:xfrm>
              <a:off x="7468672" y="8955643"/>
              <a:ext cx="3416498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Minimal share across states</a:t>
              </a:r>
              <a:endParaRPr lang="en-US" sz="1200" dirty="0"/>
            </a:p>
          </p:txBody>
        </p:sp>
        <p:sp>
          <p:nvSpPr>
            <p:cNvPr id="19" name="Text 12"/>
            <p:cNvSpPr/>
            <p:nvPr/>
          </p:nvSpPr>
          <p:spPr>
            <a:xfrm>
              <a:off x="3752612" y="9475946"/>
              <a:ext cx="2275284" cy="3949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1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50T</a:t>
              </a:r>
              <a:endParaRPr lang="en-US" sz="1200" dirty="0"/>
            </a:p>
          </p:txBody>
        </p:sp>
        <p:sp>
          <p:nvSpPr>
            <p:cNvPr id="20" name="Text 13"/>
            <p:cNvSpPr/>
            <p:nvPr/>
          </p:nvSpPr>
          <p:spPr>
            <a:xfrm>
              <a:off x="4186238" y="10020300"/>
              <a:ext cx="1408033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Telangana</a:t>
              </a:r>
              <a:endParaRPr lang="en-US" sz="1200" dirty="0"/>
            </a:p>
          </p:txBody>
        </p:sp>
        <p:sp>
          <p:nvSpPr>
            <p:cNvPr id="21" name="Text 14"/>
            <p:cNvSpPr/>
            <p:nvPr/>
          </p:nvSpPr>
          <p:spPr>
            <a:xfrm>
              <a:off x="3752612" y="10268069"/>
              <a:ext cx="2275284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Merchant-led growth</a:t>
              </a:r>
              <a:endParaRPr lang="en-US" sz="1200" dirty="0"/>
            </a:p>
          </p:txBody>
        </p:sp>
        <p:sp>
          <p:nvSpPr>
            <p:cNvPr id="22" name="Text 15"/>
            <p:cNvSpPr/>
            <p:nvPr/>
          </p:nvSpPr>
          <p:spPr>
            <a:xfrm>
              <a:off x="6177439" y="9475946"/>
              <a:ext cx="2275284" cy="3949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1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50T</a:t>
              </a:r>
              <a:endParaRPr lang="en-US" sz="1200" dirty="0"/>
            </a:p>
          </p:txBody>
        </p:sp>
        <p:sp>
          <p:nvSpPr>
            <p:cNvPr id="23" name="Text 16"/>
            <p:cNvSpPr/>
            <p:nvPr/>
          </p:nvSpPr>
          <p:spPr>
            <a:xfrm>
              <a:off x="6611064" y="10020300"/>
              <a:ext cx="1408033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Maharashtra</a:t>
              </a:r>
              <a:endParaRPr lang="en-US" sz="1200" dirty="0"/>
            </a:p>
          </p:txBody>
        </p:sp>
        <p:sp>
          <p:nvSpPr>
            <p:cNvPr id="24" name="Text 17"/>
            <p:cNvSpPr/>
            <p:nvPr/>
          </p:nvSpPr>
          <p:spPr>
            <a:xfrm>
              <a:off x="6177439" y="10268069"/>
              <a:ext cx="2275284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Highest transaction value</a:t>
              </a:r>
              <a:endParaRPr lang="en-US" sz="1200" dirty="0"/>
            </a:p>
          </p:txBody>
        </p:sp>
        <p:sp>
          <p:nvSpPr>
            <p:cNvPr id="25" name="Text 18"/>
            <p:cNvSpPr/>
            <p:nvPr/>
          </p:nvSpPr>
          <p:spPr>
            <a:xfrm>
              <a:off x="8602266" y="9475946"/>
              <a:ext cx="2275403" cy="3949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1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45T</a:t>
              </a:r>
              <a:endParaRPr lang="en-US" sz="1200" dirty="0"/>
            </a:p>
          </p:txBody>
        </p:sp>
        <p:sp>
          <p:nvSpPr>
            <p:cNvPr id="26" name="Text 19"/>
            <p:cNvSpPr/>
            <p:nvPr/>
          </p:nvSpPr>
          <p:spPr>
            <a:xfrm>
              <a:off x="9035891" y="10020300"/>
              <a:ext cx="1408033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Karnataka</a:t>
              </a:r>
              <a:endParaRPr lang="en-US" sz="1200" dirty="0"/>
            </a:p>
          </p:txBody>
        </p:sp>
        <p:sp>
          <p:nvSpPr>
            <p:cNvPr id="27" name="Text 20"/>
            <p:cNvSpPr/>
            <p:nvPr/>
          </p:nvSpPr>
          <p:spPr>
            <a:xfrm>
              <a:off x="8602266" y="10268069"/>
              <a:ext cx="2275403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Strong merchant ecosystem</a:t>
              </a:r>
              <a:endParaRPr lang="en-US" sz="1200" dirty="0"/>
            </a:p>
          </p:txBody>
        </p:sp>
        <p:sp>
          <p:nvSpPr>
            <p:cNvPr id="28" name="Shape 21"/>
            <p:cNvSpPr/>
            <p:nvPr/>
          </p:nvSpPr>
          <p:spPr>
            <a:xfrm>
              <a:off x="3752612" y="10653870"/>
              <a:ext cx="7125057" cy="22503"/>
            </a:xfrm>
            <a:prstGeom prst="rect">
              <a:avLst/>
            </a:prstGeom>
            <a:solidFill>
              <a:srgbClr val="CAD6DE">
                <a:alpha val="50000"/>
              </a:srgbClr>
            </a:solidFill>
            <a:ln/>
          </p:spPr>
        </p:sp>
        <p:sp>
          <p:nvSpPr>
            <p:cNvPr id="29" name="Text 22"/>
            <p:cNvSpPr/>
            <p:nvPr/>
          </p:nvSpPr>
          <p:spPr>
            <a:xfrm>
              <a:off x="3752612" y="10855762"/>
              <a:ext cx="2913102" cy="2110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Strategic Recommendations</a:t>
              </a:r>
              <a:endParaRPr lang="en-US" sz="1200" dirty="0"/>
            </a:p>
          </p:txBody>
        </p:sp>
        <p:pic>
          <p:nvPicPr>
            <p:cNvPr id="30" name="Image 5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52612" y="11246287"/>
              <a:ext cx="2374940" cy="478750"/>
            </a:xfrm>
            <a:prstGeom prst="rect">
              <a:avLst/>
            </a:prstGeom>
          </p:spPr>
        </p:pic>
        <p:sp>
          <p:nvSpPr>
            <p:cNvPr id="31" name="Text 23"/>
            <p:cNvSpPr/>
            <p:nvPr/>
          </p:nvSpPr>
          <p:spPr>
            <a:xfrm>
              <a:off x="3872270" y="11844695"/>
              <a:ext cx="1657469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Invest in Merchants</a:t>
              </a:r>
              <a:endParaRPr lang="en-US" sz="1200" dirty="0"/>
            </a:p>
          </p:txBody>
        </p:sp>
        <p:sp>
          <p:nvSpPr>
            <p:cNvPr id="32" name="Text 24"/>
            <p:cNvSpPr/>
            <p:nvPr/>
          </p:nvSpPr>
          <p:spPr>
            <a:xfrm>
              <a:off x="3872270" y="12092464"/>
              <a:ext cx="2135624" cy="3829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SME onboarding and QR penetration are primary revenue drivers</a:t>
              </a:r>
              <a:endParaRPr lang="en-US" sz="1200" dirty="0"/>
            </a:p>
          </p:txBody>
        </p:sp>
        <p:pic>
          <p:nvPicPr>
            <p:cNvPr id="33" name="Image 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27552" y="11246287"/>
              <a:ext cx="2375059" cy="478750"/>
            </a:xfrm>
            <a:prstGeom prst="rect">
              <a:avLst/>
            </a:prstGeom>
          </p:spPr>
        </p:pic>
        <p:sp>
          <p:nvSpPr>
            <p:cNvPr id="34" name="Text 25"/>
            <p:cNvSpPr/>
            <p:nvPr/>
          </p:nvSpPr>
          <p:spPr>
            <a:xfrm>
              <a:off x="6247209" y="11844695"/>
              <a:ext cx="1408033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P2P as Funnel</a:t>
              </a:r>
              <a:endParaRPr lang="en-US" sz="1200" dirty="0"/>
            </a:p>
          </p:txBody>
        </p:sp>
        <p:sp>
          <p:nvSpPr>
            <p:cNvPr id="35" name="Text 26"/>
            <p:cNvSpPr/>
            <p:nvPr/>
          </p:nvSpPr>
          <p:spPr>
            <a:xfrm>
              <a:off x="6247209" y="12092464"/>
              <a:ext cx="2135743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Use for activation, not revenue focus</a:t>
              </a:r>
              <a:endParaRPr lang="en-US" sz="1200" dirty="0"/>
            </a:p>
          </p:txBody>
        </p:sp>
        <p:pic>
          <p:nvPicPr>
            <p:cNvPr id="36" name="Image 7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02610" y="11246287"/>
              <a:ext cx="2374940" cy="478750"/>
            </a:xfrm>
            <a:prstGeom prst="rect">
              <a:avLst/>
            </a:prstGeom>
          </p:spPr>
        </p:pic>
        <p:sp>
          <p:nvSpPr>
            <p:cNvPr id="37" name="Text 27"/>
            <p:cNvSpPr/>
            <p:nvPr/>
          </p:nvSpPr>
          <p:spPr>
            <a:xfrm>
              <a:off x="8622268" y="11844695"/>
              <a:ext cx="1470541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Bundle Low-Value</a:t>
              </a:r>
              <a:endParaRPr lang="en-US" sz="1200" dirty="0"/>
            </a:p>
          </p:txBody>
        </p:sp>
        <p:sp>
          <p:nvSpPr>
            <p:cNvPr id="38" name="Text 28"/>
            <p:cNvSpPr/>
            <p:nvPr/>
          </p:nvSpPr>
          <p:spPr>
            <a:xfrm>
              <a:off x="8622268" y="12092464"/>
              <a:ext cx="2135624" cy="3829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Consolidate categories instead of standalone push</a:t>
              </a:r>
              <a:endParaRPr lang="en-US" sz="1200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12622054" y="7604297"/>
            <a:ext cx="2000726" cy="526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3143" y="376118"/>
            <a:ext cx="5870138" cy="40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Transaction Growth Over Time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243143" y="1052155"/>
            <a:ext cx="8144113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Six-year trajectory reveals merchant-driven expansion as the dominant growth engine.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143" y="1424821"/>
            <a:ext cx="8144113" cy="41501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14568" y="5574983"/>
            <a:ext cx="136803" cy="136803"/>
          </a:xfrm>
          <a:prstGeom prst="roundRect">
            <a:avLst>
              <a:gd name="adj" fmla="val 13368"/>
            </a:avLst>
          </a:prstGeom>
          <a:solidFill>
            <a:srgbClr val="098176"/>
          </a:solidFill>
          <a:ln/>
        </p:spPr>
      </p:sp>
      <p:sp>
        <p:nvSpPr>
          <p:cNvPr id="6" name="Text 3"/>
          <p:cNvSpPr/>
          <p:nvPr/>
        </p:nvSpPr>
        <p:spPr>
          <a:xfrm>
            <a:off x="5312331" y="5574983"/>
            <a:ext cx="543878" cy="136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Merchant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102197" y="5574983"/>
            <a:ext cx="136803" cy="136803"/>
          </a:xfrm>
          <a:prstGeom prst="roundRect">
            <a:avLst>
              <a:gd name="adj" fmla="val 13368"/>
            </a:avLst>
          </a:prstGeom>
          <a:solidFill>
            <a:srgbClr val="10EED9"/>
          </a:solidFill>
          <a:ln/>
        </p:spPr>
      </p:sp>
      <p:sp>
        <p:nvSpPr>
          <p:cNvPr id="8" name="Text 5"/>
          <p:cNvSpPr/>
          <p:nvPr/>
        </p:nvSpPr>
        <p:spPr>
          <a:xfrm>
            <a:off x="7299960" y="5574983"/>
            <a:ext cx="228005" cy="136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P2P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774073" y="5574983"/>
            <a:ext cx="136803" cy="136803"/>
          </a:xfrm>
          <a:prstGeom prst="roundRect">
            <a:avLst>
              <a:gd name="adj" fmla="val 13368"/>
            </a:avLst>
          </a:prstGeom>
          <a:solidFill>
            <a:srgbClr val="7BF6EB"/>
          </a:solidFill>
          <a:ln/>
        </p:spPr>
      </p:sp>
      <p:sp>
        <p:nvSpPr>
          <p:cNvPr id="10" name="Text 7"/>
          <p:cNvSpPr/>
          <p:nvPr/>
        </p:nvSpPr>
        <p:spPr>
          <a:xfrm>
            <a:off x="8971836" y="5574983"/>
            <a:ext cx="395168" cy="136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Others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43143" y="6276142"/>
            <a:ext cx="1609487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Growth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43143" y="6614160"/>
            <a:ext cx="2463998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From </a:t>
            </a:r>
            <a:r>
              <a:rPr lang="en-US" sz="1050" b="1" dirty="0">
                <a:solidFill>
                  <a:srgbClr val="C9131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~20T (2018)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</a:t>
            </a:r>
            <a:r>
              <a:rPr lang="en-US" sz="1050" b="1" dirty="0">
                <a:solidFill>
                  <a:srgbClr val="C9131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~100T (2024)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48375" y="6276142"/>
            <a:ext cx="1609487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Merchant Surge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48375" y="6614160"/>
            <a:ext cx="2463998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6× growth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from 2019 to 2024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853607" y="6276142"/>
            <a:ext cx="1665327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Other Categories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853607" y="6614160"/>
            <a:ext cx="2548771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Remain </a:t>
            </a: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&lt;15T combined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 2024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448288" y="7263765"/>
            <a:ext cx="7938968" cy="437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Strategic Imperative: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Capacity planning must assume merchant-led growth continues. Product roadmap should prioritize merchant analytics, settlement speed, and credit offerings.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43143" y="7109936"/>
            <a:ext cx="15240" cy="745331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9" name="Rectangle 18"/>
          <p:cNvSpPr/>
          <p:nvPr/>
        </p:nvSpPr>
        <p:spPr>
          <a:xfrm>
            <a:off x="12622054" y="7604297"/>
            <a:ext cx="2000726" cy="526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6546" y="893088"/>
            <a:ext cx="7476768" cy="44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Insurance Transaction Acceleration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385" y="1666321"/>
            <a:ext cx="3820358" cy="18085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46546" y="3567589"/>
            <a:ext cx="150019" cy="150019"/>
          </a:xfrm>
          <a:prstGeom prst="roundRect">
            <a:avLst>
              <a:gd name="adj" fmla="val 12190"/>
            </a:avLst>
          </a:prstGeom>
          <a:solidFill>
            <a:srgbClr val="054842"/>
          </a:solidFill>
          <a:ln/>
        </p:spPr>
      </p:sp>
      <p:sp>
        <p:nvSpPr>
          <p:cNvPr id="5" name="Text 2"/>
          <p:cNvSpPr/>
          <p:nvPr/>
        </p:nvSpPr>
        <p:spPr>
          <a:xfrm>
            <a:off x="3057525" y="3567589"/>
            <a:ext cx="629722" cy="300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2020-2021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984188" y="3567589"/>
            <a:ext cx="150019" cy="150019"/>
          </a:xfrm>
          <a:prstGeom prst="roundRect">
            <a:avLst>
              <a:gd name="adj" fmla="val 12190"/>
            </a:avLst>
          </a:prstGeom>
          <a:solidFill>
            <a:srgbClr val="0BA799"/>
          </a:solidFill>
          <a:ln/>
        </p:spPr>
      </p:sp>
      <p:sp>
        <p:nvSpPr>
          <p:cNvPr id="7" name="Text 4"/>
          <p:cNvSpPr/>
          <p:nvPr/>
        </p:nvSpPr>
        <p:spPr>
          <a:xfrm>
            <a:off x="4195167" y="3567589"/>
            <a:ext cx="340638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2022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976217" y="3567589"/>
            <a:ext cx="150019" cy="150019"/>
          </a:xfrm>
          <a:prstGeom prst="roundRect">
            <a:avLst>
              <a:gd name="adj" fmla="val 12190"/>
            </a:avLst>
          </a:prstGeom>
          <a:solidFill>
            <a:srgbClr val="28F1DE"/>
          </a:solidFill>
          <a:ln/>
        </p:spPr>
      </p:sp>
      <p:sp>
        <p:nvSpPr>
          <p:cNvPr id="9" name="Text 6"/>
          <p:cNvSpPr/>
          <p:nvPr/>
        </p:nvSpPr>
        <p:spPr>
          <a:xfrm>
            <a:off x="5187196" y="3567589"/>
            <a:ext cx="343138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2023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26085" y="3567589"/>
            <a:ext cx="150019" cy="150019"/>
          </a:xfrm>
          <a:prstGeom prst="roundRect">
            <a:avLst>
              <a:gd name="adj" fmla="val 12190"/>
            </a:avLst>
          </a:prstGeom>
          <a:solidFill>
            <a:srgbClr val="87F7ED"/>
          </a:solidFill>
          <a:ln/>
        </p:spPr>
      </p:sp>
      <p:sp>
        <p:nvSpPr>
          <p:cNvPr id="11" name="Text 8"/>
          <p:cNvSpPr/>
          <p:nvPr/>
        </p:nvSpPr>
        <p:spPr>
          <a:xfrm>
            <a:off x="6037064" y="3567589"/>
            <a:ext cx="348734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2024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90899" y="1953697"/>
            <a:ext cx="150019" cy="685562"/>
          </a:xfrm>
          <a:prstGeom prst="roundRect">
            <a:avLst>
              <a:gd name="adj" fmla="val 15012"/>
            </a:avLst>
          </a:prstGeom>
          <a:solidFill>
            <a:srgbClr val="304755"/>
          </a:solidFill>
          <a:ln/>
        </p:spPr>
      </p:sp>
      <p:sp>
        <p:nvSpPr>
          <p:cNvPr id="13" name="Shape 10"/>
          <p:cNvSpPr/>
          <p:nvPr/>
        </p:nvSpPr>
        <p:spPr>
          <a:xfrm>
            <a:off x="7040761" y="1855113"/>
            <a:ext cx="450294" cy="450294"/>
          </a:xfrm>
          <a:prstGeom prst="roundRect">
            <a:avLst>
              <a:gd name="adj" fmla="val 101534"/>
            </a:avLst>
          </a:prstGeom>
          <a:solidFill>
            <a:srgbClr val="30475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3275" y="1967627"/>
            <a:ext cx="225147" cy="2251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41074" y="1878568"/>
            <a:ext cx="1766173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Early Adoption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641074" y="2249210"/>
            <a:ext cx="4150400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Insurance transactions show clear acceleration in last 2 years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416046" y="3014543"/>
            <a:ext cx="150019" cy="685562"/>
          </a:xfrm>
          <a:prstGeom prst="roundRect">
            <a:avLst>
              <a:gd name="adj" fmla="val 15012"/>
            </a:avLst>
          </a:prstGeom>
          <a:solidFill>
            <a:srgbClr val="304755"/>
          </a:solidFill>
          <a:ln/>
        </p:spPr>
      </p:sp>
      <p:sp>
        <p:nvSpPr>
          <p:cNvPr id="18" name="Shape 14"/>
          <p:cNvSpPr/>
          <p:nvPr/>
        </p:nvSpPr>
        <p:spPr>
          <a:xfrm>
            <a:off x="7265908" y="2915960"/>
            <a:ext cx="450294" cy="450294"/>
          </a:xfrm>
          <a:prstGeom prst="roundRect">
            <a:avLst>
              <a:gd name="adj" fmla="val 101534"/>
            </a:avLst>
          </a:prstGeom>
          <a:solidFill>
            <a:srgbClr val="304755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8422" y="3028474"/>
            <a:ext cx="225147" cy="2251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66221" y="2939415"/>
            <a:ext cx="1822609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2024 Dominance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866221" y="3310057"/>
            <a:ext cx="3925253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C9131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40% of total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insurance transactions occurred in 2024 alone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641193" y="4075390"/>
            <a:ext cx="150019" cy="685562"/>
          </a:xfrm>
          <a:prstGeom prst="roundRect">
            <a:avLst>
              <a:gd name="adj" fmla="val 15012"/>
            </a:avLst>
          </a:prstGeom>
          <a:solidFill>
            <a:srgbClr val="304755"/>
          </a:solidFill>
          <a:ln/>
        </p:spPr>
      </p:sp>
      <p:sp>
        <p:nvSpPr>
          <p:cNvPr id="23" name="Shape 18"/>
          <p:cNvSpPr/>
          <p:nvPr/>
        </p:nvSpPr>
        <p:spPr>
          <a:xfrm>
            <a:off x="7491055" y="3976807"/>
            <a:ext cx="450294" cy="450294"/>
          </a:xfrm>
          <a:prstGeom prst="roundRect">
            <a:avLst>
              <a:gd name="adj" fmla="val 101534"/>
            </a:avLst>
          </a:prstGeom>
          <a:solidFill>
            <a:srgbClr val="304755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03569" y="4089321"/>
            <a:ext cx="225147" cy="2251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091368" y="4000262"/>
            <a:ext cx="2105620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Momentum Building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091368" y="4370903"/>
            <a:ext cx="3700105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2022-2023 combined contribute 45-50% of total volume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846546" y="5155049"/>
            <a:ext cx="419314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Capitalize on Growth Momentum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2846546" y="5770423"/>
            <a:ext cx="2879050" cy="1691283"/>
          </a:xfrm>
          <a:prstGeom prst="roundRect">
            <a:avLst>
              <a:gd name="adj" fmla="val 1332"/>
            </a:avLst>
          </a:prstGeom>
          <a:solidFill>
            <a:srgbClr val="304755"/>
          </a:solidFill>
          <a:ln/>
        </p:spPr>
      </p:sp>
      <p:sp>
        <p:nvSpPr>
          <p:cNvPr id="29" name="Shape 23"/>
          <p:cNvSpPr/>
          <p:nvPr/>
        </p:nvSpPr>
        <p:spPr>
          <a:xfrm>
            <a:off x="2996565" y="5795129"/>
            <a:ext cx="450294" cy="450294"/>
          </a:xfrm>
          <a:prstGeom prst="roundRect">
            <a:avLst>
              <a:gd name="adj" fmla="val 20304702"/>
            </a:avLst>
          </a:prstGeom>
          <a:solidFill>
            <a:srgbClr val="510C04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0390" y="5918835"/>
            <a:ext cx="202644" cy="2026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996565" y="6395442"/>
            <a:ext cx="1766173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Bundle Strategy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2996565" y="6706076"/>
            <a:ext cx="2579013" cy="4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Integrate insurance with high-frequency flows: travel, devices, health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5875615" y="5769411"/>
            <a:ext cx="2879050" cy="1691283"/>
          </a:xfrm>
          <a:prstGeom prst="roundRect">
            <a:avLst>
              <a:gd name="adj" fmla="val 1332"/>
            </a:avLst>
          </a:prstGeom>
          <a:solidFill>
            <a:srgbClr val="304755"/>
          </a:solidFill>
          <a:ln/>
        </p:spPr>
      </p:sp>
      <p:sp>
        <p:nvSpPr>
          <p:cNvPr id="34" name="Shape 27"/>
          <p:cNvSpPr/>
          <p:nvPr/>
        </p:nvSpPr>
        <p:spPr>
          <a:xfrm>
            <a:off x="6025634" y="5795129"/>
            <a:ext cx="450294" cy="450294"/>
          </a:xfrm>
          <a:prstGeom prst="roundRect">
            <a:avLst>
              <a:gd name="adj" fmla="val 20304702"/>
            </a:avLst>
          </a:prstGeom>
          <a:solidFill>
            <a:srgbClr val="510C04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49459" y="5918835"/>
            <a:ext cx="202644" cy="20264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025634" y="6395442"/>
            <a:ext cx="1921431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Geographic Focus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6025634" y="6706076"/>
            <a:ext cx="2579013" cy="4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Launch insurance campaigns first in top 5 user states for maximum scale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8904684" y="5757710"/>
            <a:ext cx="2879050" cy="1691283"/>
          </a:xfrm>
          <a:prstGeom prst="roundRect">
            <a:avLst>
              <a:gd name="adj" fmla="val 1332"/>
            </a:avLst>
          </a:prstGeom>
          <a:solidFill>
            <a:srgbClr val="304755"/>
          </a:solidFill>
          <a:ln/>
        </p:spPr>
      </p:sp>
      <p:sp>
        <p:nvSpPr>
          <p:cNvPr id="39" name="Shape 31"/>
          <p:cNvSpPr/>
          <p:nvPr/>
        </p:nvSpPr>
        <p:spPr>
          <a:xfrm>
            <a:off x="9054703" y="5795129"/>
            <a:ext cx="450294" cy="450294"/>
          </a:xfrm>
          <a:prstGeom prst="roundRect">
            <a:avLst>
              <a:gd name="adj" fmla="val 20304702"/>
            </a:avLst>
          </a:prstGeom>
          <a:solidFill>
            <a:srgbClr val="510C04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78528" y="5918835"/>
            <a:ext cx="202644" cy="20264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054703" y="6395442"/>
            <a:ext cx="2459950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Early Mover Advantage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9054703" y="6706076"/>
            <a:ext cx="2579013" cy="4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Adoption is early but accelerating—position for leadership now</a:t>
            </a:r>
            <a:endParaRPr lang="en-US" sz="1400" dirty="0"/>
          </a:p>
        </p:txBody>
      </p:sp>
      <p:sp>
        <p:nvSpPr>
          <p:cNvPr id="43" name="Rectangle 42"/>
          <p:cNvSpPr/>
          <p:nvPr/>
        </p:nvSpPr>
        <p:spPr>
          <a:xfrm>
            <a:off x="12622054" y="7604297"/>
            <a:ext cx="2000726" cy="526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0"/>
          <p:cNvSpPr/>
          <p:nvPr/>
        </p:nvSpPr>
        <p:spPr>
          <a:xfrm>
            <a:off x="7307342" y="6501586"/>
            <a:ext cx="15240" cy="358973"/>
          </a:xfrm>
          <a:prstGeom prst="roundRect">
            <a:avLst>
              <a:gd name="adj" fmla="val 117806"/>
            </a:avLst>
          </a:prstGeom>
          <a:solidFill>
            <a:srgbClr val="49606E"/>
          </a:solidFill>
          <a:ln/>
        </p:spPr>
      </p:sp>
      <p:grpSp>
        <p:nvGrpSpPr>
          <p:cNvPr id="37" name="Group 36"/>
          <p:cNvGrpSpPr/>
          <p:nvPr/>
        </p:nvGrpSpPr>
        <p:grpSpPr>
          <a:xfrm>
            <a:off x="528965" y="300038"/>
            <a:ext cx="6584758" cy="6871470"/>
            <a:chOff x="3752612" y="329089"/>
            <a:chExt cx="7125057" cy="6307157"/>
          </a:xfrm>
        </p:grpSpPr>
        <p:sp>
          <p:nvSpPr>
            <p:cNvPr id="2" name="Shape 0"/>
            <p:cNvSpPr/>
            <p:nvPr/>
          </p:nvSpPr>
          <p:spPr>
            <a:xfrm>
              <a:off x="3752612" y="329089"/>
              <a:ext cx="1497449" cy="224790"/>
            </a:xfrm>
            <a:prstGeom prst="roundRect">
              <a:avLst>
                <a:gd name="adj" fmla="val 6389"/>
              </a:avLst>
            </a:prstGeom>
            <a:solidFill>
              <a:srgbClr val="054842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3824407" y="364927"/>
              <a:ext cx="1353860" cy="1531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GEOGRAPHIC CONCENTRATION</a:t>
              </a:r>
              <a:endParaRPr lang="en-US" sz="12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752612" y="601742"/>
              <a:ext cx="6273522" cy="3519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Top Geo Entities by Transaction Value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752612" y="1133118"/>
              <a:ext cx="7125057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Transaction value shows extreme geographic concentration, with top districts driving disproportionate share.</a:t>
              </a:r>
              <a:endParaRPr lang="en-US" sz="1200" dirty="0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2612" y="1459111"/>
              <a:ext cx="7125057" cy="3990023"/>
            </a:xfrm>
            <a:prstGeom prst="rect">
              <a:avLst/>
            </a:prstGeom>
          </p:spPr>
        </p:pic>
        <p:sp>
          <p:nvSpPr>
            <p:cNvPr id="7" name="Shape 4"/>
            <p:cNvSpPr/>
            <p:nvPr/>
          </p:nvSpPr>
          <p:spPr>
            <a:xfrm>
              <a:off x="3752612" y="6501646"/>
              <a:ext cx="7125057" cy="15240"/>
            </a:xfrm>
            <a:prstGeom prst="roundRect">
              <a:avLst>
                <a:gd name="adj" fmla="val 117806"/>
              </a:avLst>
            </a:prstGeom>
            <a:solidFill>
              <a:srgbClr val="49606E"/>
            </a:solidFill>
            <a:ln/>
          </p:spPr>
        </p:sp>
        <p:sp>
          <p:nvSpPr>
            <p:cNvPr id="8" name="Shape 5"/>
            <p:cNvSpPr/>
            <p:nvPr/>
          </p:nvSpPr>
          <p:spPr>
            <a:xfrm>
              <a:off x="5488662" y="6142732"/>
              <a:ext cx="15240" cy="358973"/>
            </a:xfrm>
            <a:prstGeom prst="roundRect">
              <a:avLst>
                <a:gd name="adj" fmla="val 117806"/>
              </a:avLst>
            </a:prstGeom>
            <a:solidFill>
              <a:srgbClr val="49606E"/>
            </a:solidFill>
            <a:ln/>
          </p:spPr>
        </p:sp>
        <p:sp>
          <p:nvSpPr>
            <p:cNvPr id="9" name="Shape 6"/>
            <p:cNvSpPr/>
            <p:nvPr/>
          </p:nvSpPr>
          <p:spPr>
            <a:xfrm>
              <a:off x="5361742" y="6367046"/>
              <a:ext cx="269200" cy="269200"/>
            </a:xfrm>
            <a:prstGeom prst="roundRect">
              <a:avLst>
                <a:gd name="adj" fmla="val 6669"/>
              </a:avLst>
            </a:prstGeom>
            <a:solidFill>
              <a:srgbClr val="304755"/>
            </a:solidFill>
            <a:ln/>
          </p:spPr>
        </p:sp>
        <p:sp>
          <p:nvSpPr>
            <p:cNvPr id="10" name="Text 7"/>
            <p:cNvSpPr/>
            <p:nvPr/>
          </p:nvSpPr>
          <p:spPr>
            <a:xfrm>
              <a:off x="5411807" y="6395978"/>
              <a:ext cx="168950" cy="2112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4792385" y="5583674"/>
              <a:ext cx="1408033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Top 3 Districts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3872270" y="5831443"/>
              <a:ext cx="3248382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Each contributes </a:t>
              </a:r>
              <a:r>
                <a:rPr lang="en-US" sz="1200" b="1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&gt;10-12T</a:t>
              </a: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 transaction value</a:t>
              </a:r>
              <a:endParaRPr lang="en-US" sz="12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7180421" y="6367046"/>
              <a:ext cx="269200" cy="269200"/>
            </a:xfrm>
            <a:prstGeom prst="roundRect">
              <a:avLst>
                <a:gd name="adj" fmla="val 6669"/>
              </a:avLst>
            </a:prstGeom>
            <a:solidFill>
              <a:srgbClr val="304755"/>
            </a:solidFill>
            <a:ln/>
          </p:spPr>
        </p:sp>
        <p:sp>
          <p:nvSpPr>
            <p:cNvPr id="15" name="Text 12"/>
            <p:cNvSpPr/>
            <p:nvPr/>
          </p:nvSpPr>
          <p:spPr>
            <a:xfrm>
              <a:off x="7230487" y="6395978"/>
              <a:ext cx="168950" cy="2112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9126022" y="6142732"/>
              <a:ext cx="15240" cy="358973"/>
            </a:xfrm>
            <a:prstGeom prst="roundRect">
              <a:avLst>
                <a:gd name="adj" fmla="val 117806"/>
              </a:avLst>
            </a:prstGeom>
            <a:solidFill>
              <a:srgbClr val="49606E"/>
            </a:solidFill>
            <a:ln/>
          </p:spPr>
        </p:sp>
        <p:sp>
          <p:nvSpPr>
            <p:cNvPr id="19" name="Shape 16"/>
            <p:cNvSpPr/>
            <p:nvPr/>
          </p:nvSpPr>
          <p:spPr>
            <a:xfrm>
              <a:off x="8999101" y="6367046"/>
              <a:ext cx="269200" cy="269200"/>
            </a:xfrm>
            <a:prstGeom prst="roundRect">
              <a:avLst>
                <a:gd name="adj" fmla="val 6669"/>
              </a:avLst>
            </a:prstGeom>
            <a:solidFill>
              <a:srgbClr val="304755"/>
            </a:solidFill>
            <a:ln/>
          </p:spPr>
        </p:sp>
        <p:sp>
          <p:nvSpPr>
            <p:cNvPr id="20" name="Text 17"/>
            <p:cNvSpPr/>
            <p:nvPr/>
          </p:nvSpPr>
          <p:spPr>
            <a:xfrm>
              <a:off x="9049167" y="6395978"/>
              <a:ext cx="168950" cy="2112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3</a:t>
              </a:r>
              <a:endParaRPr lang="en-US" sz="12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8429744" y="5583674"/>
              <a:ext cx="1408033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Long Tail</a:t>
              </a:r>
              <a:endParaRPr lang="en-US" sz="12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7509510" y="5831443"/>
              <a:ext cx="3248501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Individual districts contribute </a:t>
              </a:r>
              <a:r>
                <a:rPr lang="en-US" sz="1200" b="1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&lt;5T</a:t>
              </a: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 each</a:t>
              </a:r>
              <a:endParaRPr lang="en-US" sz="12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246700" y="5696042"/>
            <a:ext cx="7125057" cy="1875592"/>
            <a:chOff x="3752612" y="6980396"/>
            <a:chExt cx="7125057" cy="1875592"/>
          </a:xfrm>
        </p:grpSpPr>
        <p:sp>
          <p:nvSpPr>
            <p:cNvPr id="16" name="Text 13"/>
            <p:cNvSpPr/>
            <p:nvPr/>
          </p:nvSpPr>
          <p:spPr>
            <a:xfrm>
              <a:off x="6611064" y="6980396"/>
              <a:ext cx="1408033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Sharp Drop-off</a:t>
              </a:r>
              <a:endParaRPr lang="en-US" sz="12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690830" y="7228165"/>
              <a:ext cx="3248501" cy="191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Significant decline after top 5 entities</a:t>
              </a:r>
              <a:endParaRPr lang="en-US" sz="12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3752612" y="7613966"/>
              <a:ext cx="7125057" cy="22503"/>
            </a:xfrm>
            <a:prstGeom prst="rect">
              <a:avLst/>
            </a:prstGeom>
            <a:solidFill>
              <a:srgbClr val="CAD6DE">
                <a:alpha val="50000"/>
              </a:srgbClr>
            </a:solidFill>
            <a:ln/>
          </p:spPr>
        </p:sp>
        <p:sp>
          <p:nvSpPr>
            <p:cNvPr id="24" name="Text 21"/>
            <p:cNvSpPr/>
            <p:nvPr/>
          </p:nvSpPr>
          <p:spPr>
            <a:xfrm>
              <a:off x="3752612" y="7770971"/>
              <a:ext cx="119658" cy="1495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 Light" pitchFamily="34" charset="0"/>
                  <a:ea typeface="Unbounded Light" pitchFamily="34" charset="-122"/>
                  <a:cs typeface="Unbounded Light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3752612" y="7959090"/>
              <a:ext cx="2295168" cy="15240"/>
            </a:xfrm>
            <a:prstGeom prst="rect">
              <a:avLst/>
            </a:prstGeom>
            <a:solidFill>
              <a:srgbClr val="0A988B"/>
            </a:solidFill>
            <a:ln/>
          </p:spPr>
        </p:sp>
        <p:sp>
          <p:nvSpPr>
            <p:cNvPr id="26" name="Text 23"/>
            <p:cNvSpPr/>
            <p:nvPr/>
          </p:nvSpPr>
          <p:spPr>
            <a:xfrm>
              <a:off x="3752612" y="8049339"/>
              <a:ext cx="2295168" cy="3519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Fraud &amp; Compliance Priority</a:t>
              </a:r>
              <a:endParaRPr lang="en-US" sz="12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3752612" y="8473083"/>
              <a:ext cx="2295168" cy="3829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Top districts require enhanced monitoring and security measures</a:t>
              </a:r>
              <a:endParaRPr lang="en-US" sz="12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6167437" y="7770971"/>
              <a:ext cx="119658" cy="1495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 Light" pitchFamily="34" charset="0"/>
                  <a:ea typeface="Unbounded Light" pitchFamily="34" charset="-122"/>
                  <a:cs typeface="Unbounded Light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29" name="Shape 26"/>
            <p:cNvSpPr/>
            <p:nvPr/>
          </p:nvSpPr>
          <p:spPr>
            <a:xfrm>
              <a:off x="6167437" y="7959090"/>
              <a:ext cx="2295287" cy="15240"/>
            </a:xfrm>
            <a:prstGeom prst="rect">
              <a:avLst/>
            </a:prstGeom>
            <a:solidFill>
              <a:srgbClr val="0A988B"/>
            </a:solidFill>
            <a:ln/>
          </p:spPr>
        </p:sp>
        <p:sp>
          <p:nvSpPr>
            <p:cNvPr id="30" name="Text 27"/>
            <p:cNvSpPr/>
            <p:nvPr/>
          </p:nvSpPr>
          <p:spPr>
            <a:xfrm>
              <a:off x="6167437" y="8049339"/>
              <a:ext cx="2191107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Replicate Success Models</a:t>
              </a:r>
              <a:endParaRPr lang="en-US" sz="12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6167437" y="8297108"/>
              <a:ext cx="2295287" cy="3829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Apply learnings from top districts to similar Tier-1/Tier-2 cities</a:t>
              </a:r>
              <a:endParaRPr lang="en-US" sz="12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8582382" y="7770971"/>
              <a:ext cx="119658" cy="1495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 Light" pitchFamily="34" charset="0"/>
                  <a:ea typeface="Unbounded Light" pitchFamily="34" charset="-122"/>
                  <a:cs typeface="Unbounded Light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33" name="Shape 30"/>
            <p:cNvSpPr/>
            <p:nvPr/>
          </p:nvSpPr>
          <p:spPr>
            <a:xfrm>
              <a:off x="8582382" y="7959090"/>
              <a:ext cx="2295168" cy="15240"/>
            </a:xfrm>
            <a:prstGeom prst="rect">
              <a:avLst/>
            </a:prstGeom>
            <a:solidFill>
              <a:srgbClr val="0A988B"/>
            </a:solidFill>
            <a:ln/>
          </p:spPr>
        </p:sp>
        <p:sp>
          <p:nvSpPr>
            <p:cNvPr id="34" name="Text 31"/>
            <p:cNvSpPr/>
            <p:nvPr/>
          </p:nvSpPr>
          <p:spPr>
            <a:xfrm>
              <a:off x="8582382" y="8049339"/>
              <a:ext cx="1949291" cy="1759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Geo-Weighted Budgets</a:t>
              </a:r>
              <a:endParaRPr lang="en-US" sz="12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8582382" y="8297108"/>
              <a:ext cx="2295168" cy="3829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Allocate marketing spend proportionally, not evenly distributed</a:t>
              </a:r>
              <a:endParaRPr lang="en-US" sz="1200" dirty="0"/>
            </a:p>
          </p:txBody>
        </p:sp>
      </p:grpSp>
      <p:sp>
        <p:nvSpPr>
          <p:cNvPr id="38" name="Rectangle 37"/>
          <p:cNvSpPr/>
          <p:nvPr/>
        </p:nvSpPr>
        <p:spPr>
          <a:xfrm>
            <a:off x="12622054" y="7604297"/>
            <a:ext cx="2000726" cy="526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3716" y="614720"/>
            <a:ext cx="6178272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Transaction Value by Category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063716" y="1320403"/>
            <a:ext cx="85028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Clear separation emerges between value-generating and utility categories across user segments.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63716" y="1780937"/>
            <a:ext cx="2715220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57411" y="1780937"/>
            <a:ext cx="2715339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51225" y="1780937"/>
            <a:ext cx="2715339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2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2522472" y="2444085"/>
            <a:ext cx="10264826" cy="752713"/>
            <a:chOff x="3063716" y="2430542"/>
            <a:chExt cx="8502848" cy="752713"/>
          </a:xfrm>
        </p:grpSpPr>
        <p:sp>
          <p:nvSpPr>
            <p:cNvPr id="5" name="Text 3"/>
            <p:cNvSpPr/>
            <p:nvPr/>
          </p:nvSpPr>
          <p:spPr>
            <a:xfrm>
              <a:off x="3423999" y="2430542"/>
              <a:ext cx="1994654" cy="2099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16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Merchant Category</a:t>
              </a:r>
              <a:endParaRPr lang="en-US" sz="1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63716" y="2726055"/>
              <a:ext cx="27152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Highest transaction value even at similar user counts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414611" y="2430542"/>
              <a:ext cx="1800820" cy="2099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16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Financial Services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957411" y="2726055"/>
              <a:ext cx="2715339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Low transaction value despite user presence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9368671" y="2430542"/>
              <a:ext cx="1680329" cy="2099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16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Others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851225" y="2726055"/>
              <a:ext cx="2715339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Minimal value contribution across segments</a:t>
              </a:r>
              <a:endParaRPr lang="en-US" sz="14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696706" y="3486625"/>
            <a:ext cx="8877360" cy="1470543"/>
            <a:chOff x="3063716" y="3486626"/>
            <a:chExt cx="8510349" cy="1309926"/>
          </a:xfrm>
        </p:grpSpPr>
        <p:sp>
          <p:nvSpPr>
            <p:cNvPr id="13" name="Text 11"/>
            <p:cNvSpPr/>
            <p:nvPr/>
          </p:nvSpPr>
          <p:spPr>
            <a:xfrm>
              <a:off x="3063716" y="3486626"/>
              <a:ext cx="2087880" cy="2520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Value-Generating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063716" y="3899297"/>
              <a:ext cx="4077176" cy="897255"/>
            </a:xfrm>
            <a:prstGeom prst="roundRect">
              <a:avLst>
                <a:gd name="adj" fmla="val 2388"/>
              </a:avLst>
            </a:prstGeom>
            <a:solidFill>
              <a:srgbClr val="112836"/>
            </a:solidFill>
            <a:ln w="15240">
              <a:solidFill>
                <a:srgbClr val="49606E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221712" y="4057293"/>
              <a:ext cx="2157174" cy="2099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Merchant Ecosystem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221712" y="4409956"/>
              <a:ext cx="3761184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Core monetization engine driving platform revenue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496889" y="3486626"/>
              <a:ext cx="2092523" cy="2520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Utility Categories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496889" y="3899297"/>
              <a:ext cx="4077176" cy="897255"/>
            </a:xfrm>
            <a:prstGeom prst="roundRect">
              <a:avLst>
                <a:gd name="adj" fmla="val 2388"/>
              </a:avLst>
            </a:prstGeom>
            <a:solidFill>
              <a:srgbClr val="112836"/>
            </a:solidFill>
            <a:ln w="15240">
              <a:solidFill>
                <a:srgbClr val="49606E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7654885" y="4057293"/>
              <a:ext cx="1800820" cy="2099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Financial Services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654885" y="4409956"/>
              <a:ext cx="3761184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Requires UX redesign or repositioning as supporting feature</a:t>
              </a:r>
              <a:endParaRPr lang="en-US" sz="14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3277910" y="5331976"/>
            <a:ext cx="3830717" cy="25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Resource Allocation Framework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63716" y="5117783"/>
            <a:ext cx="15240" cy="1298258"/>
          </a:xfrm>
          <a:prstGeom prst="rect">
            <a:avLst/>
          </a:prstGeom>
          <a:solidFill>
            <a:srgbClr val="0A988B"/>
          </a:solidFill>
          <a:ln/>
        </p:spPr>
      </p:sp>
      <p:grpSp>
        <p:nvGrpSpPr>
          <p:cNvPr id="35" name="Group 34"/>
          <p:cNvGrpSpPr/>
          <p:nvPr/>
        </p:nvGrpSpPr>
        <p:grpSpPr>
          <a:xfrm>
            <a:off x="2861516" y="5798225"/>
            <a:ext cx="8705049" cy="2149584"/>
            <a:chOff x="3063716" y="5798225"/>
            <a:chExt cx="8502849" cy="1816655"/>
          </a:xfrm>
        </p:grpSpPr>
        <p:sp>
          <p:nvSpPr>
            <p:cNvPr id="22" name="Text 20"/>
            <p:cNvSpPr/>
            <p:nvPr/>
          </p:nvSpPr>
          <p:spPr>
            <a:xfrm>
              <a:off x="3277910" y="5798225"/>
              <a:ext cx="828865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Allocate engineering and marketing bandwidth </a:t>
              </a:r>
              <a:r>
                <a:rPr lang="en-US" sz="1400" b="1" dirty="0">
                  <a:solidFill>
                    <a:srgbClr val="C91313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proportionally to value contribution</a:t>
              </a:r>
              <a:r>
                <a:rPr lang="en-US" sz="1400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. Merchant category deserves majority focus as the primary revenue driver.</a:t>
              </a:r>
              <a:endParaRPr lang="en-US" sz="14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063716" y="6576655"/>
              <a:ext cx="2739033" cy="1038225"/>
            </a:xfrm>
            <a:prstGeom prst="roundRect">
              <a:avLst>
                <a:gd name="adj" fmla="val 2064"/>
              </a:avLst>
            </a:prstGeom>
            <a:solidFill>
              <a:srgbClr val="740B0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3206472" y="6719411"/>
              <a:ext cx="1767364" cy="2099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Merchant Priority</a:t>
              </a:r>
              <a:endParaRPr lang="en-US" sz="1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206472" y="7014924"/>
              <a:ext cx="245352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Treat as core monetization engine with dedicated resources</a:t>
              </a:r>
              <a:endParaRPr lang="en-US" sz="14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945505" y="6576655"/>
              <a:ext cx="2739152" cy="1038225"/>
            </a:xfrm>
            <a:prstGeom prst="roundRect">
              <a:avLst>
                <a:gd name="adj" fmla="val 2064"/>
              </a:avLst>
            </a:prstGeom>
            <a:solidFill>
              <a:srgbClr val="740B0A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088261" y="6719411"/>
              <a:ext cx="2355890" cy="2099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Financial Services Pivot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088261" y="7014924"/>
              <a:ext cx="24536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Redesign UX or reposition as complementary offering</a:t>
              </a:r>
              <a:endParaRPr lang="en-US" sz="14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8827413" y="6576655"/>
              <a:ext cx="2739033" cy="1038225"/>
            </a:xfrm>
            <a:prstGeom prst="roundRect">
              <a:avLst>
                <a:gd name="adj" fmla="val 2064"/>
              </a:avLst>
            </a:prstGeom>
            <a:solidFill>
              <a:srgbClr val="740B0A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8970169" y="6719411"/>
              <a:ext cx="2152293" cy="2099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Value-Based Planning</a:t>
              </a:r>
              <a:endParaRPr lang="en-US" sz="14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970169" y="7014924"/>
              <a:ext cx="245352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Align team bandwidth with revenue contribution metrics</a:t>
              </a:r>
              <a:endParaRPr lang="en-US" sz="1400" dirty="0"/>
            </a:p>
          </p:txBody>
        </p:sp>
      </p:grpSp>
      <p:sp>
        <p:nvSpPr>
          <p:cNvPr id="36" name="Rectangle 35"/>
          <p:cNvSpPr/>
          <p:nvPr/>
        </p:nvSpPr>
        <p:spPr>
          <a:xfrm>
            <a:off x="12622054" y="7604297"/>
            <a:ext cx="2000726" cy="526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612</Words>
  <Application>Microsoft Office PowerPoint</Application>
  <PresentationFormat>Custom</PresentationFormat>
  <Paragraphs>135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Unbounded</vt:lpstr>
      <vt:lpstr>Cabin</vt:lpstr>
      <vt:lpstr>Calibri</vt:lpstr>
      <vt:lpstr>Unbounded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Nakul Malik</cp:lastModifiedBy>
  <cp:revision>4</cp:revision>
  <dcterms:created xsi:type="dcterms:W3CDTF">2026-01-08T17:39:10Z</dcterms:created>
  <dcterms:modified xsi:type="dcterms:W3CDTF">2026-01-15T05:47:38Z</dcterms:modified>
</cp:coreProperties>
</file>